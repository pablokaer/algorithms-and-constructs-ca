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VIDEO SCRIPT (about 5 minutes; split the sections between group members)</a:t>
            </a:r>
            <a:br>
              <a:rPr lang="en-US"/>
            </a:br>
            <a:br>
              <a:rPr lang="en-US"/>
            </a:br>
            <a:r>
              <a:rPr lang="en-US"/>
              <a:t>[Intro – 30 s]</a:t>
            </a:r>
            <a:br>
              <a:rPr lang="en-US"/>
            </a:br>
            <a:r>
              <a:rPr lang="en-US"/>
              <a:t>Hello, we are [names]. Our project models the food storage unit of a fast-food restaurant in Java, and our main design decision was to use a bounded double-ended queue, or deque.</a:t>
            </a:r>
            <a:br>
              <a:rPr lang="en-US"/>
            </a:br>
            <a:br>
              <a:rPr lang="en-US"/>
            </a:br>
            <a:r>
              <a:rPr lang="en-US"/>
              <a:t>[1. The problem – 45 s]</a:t>
            </a:r>
            <a:br>
              <a:rPr lang="en-US"/>
            </a:br>
            <a:r>
              <a:rPr lang="en-US"/>
              <a:t>The restaurant prepares five foods for parties: burger, pizza, fries, sandwich and hotdog. They go into a storage unit that holds at most eight trays. For every tray we record the food name, its weight in grams, a best-before date of at most two weeks, and the time it was placed in storage. The unit has two sides. The chef can use only the front side to add and remove trays, which is last-in first-out, like a stack. Or the chef can add at the front and remove from the opposite side, which is first-in first-out, like a queue. The two diagrams show both modes.</a:t>
            </a:r>
            <a:br>
              <a:rPr lang="en-US"/>
            </a:br>
            <a:br>
              <a:rPr lang="en-US"/>
            </a:br>
            <a:r>
              <a:rPr lang="en-US"/>
              <a:t>[2. Data structure – 60 s]</a:t>
            </a:r>
            <a:br>
              <a:rPr lang="en-US"/>
            </a:br>
            <a:r>
              <a:rPr lang="en-US"/>
              <a:t>Because there are two ends, the natural structure is a deque. We implemented it ourselves on a fixed array of eight slots used as a circular buffer. We only keep two numbers: back, the index of the oldest tray, and size. The front is calculated as back plus size minus one, modulo eight. When a tray is removed from the back, we simply move the back index forward and it wraps around to zero. That is why no tray ever has to be shifted. In front-only mode the remove operation takes from the front, so the deque behaves as a stack. In front-to-back mode it takes from the back, so it behaves as a queue.</a:t>
            </a:r>
            <a:br>
              <a:rPr lang="en-US"/>
            </a:br>
            <a:br>
              <a:rPr lang="en-US"/>
            </a:br>
            <a:r>
              <a:rPr lang="en-US"/>
              <a:t>[3. Time complexity – 45 s]</a:t>
            </a:r>
            <a:br>
              <a:rPr lang="en-US"/>
            </a:br>
            <a:r>
              <a:rPr lang="en-US"/>
              <a:t>Adding a tray, removing from either side, peeking at the top, and checking if the storage is empty or full are all constant time, O(1), because each one only reads or writes one array index and updates a counter. Displaying all trays and searching by food name are linear, O(n), because we have to visit each tray. Since n is at most eight, this is still very fast.</a:t>
            </a:r>
            <a:br>
              <a:rPr lang="en-US"/>
            </a:br>
            <a:br>
              <a:rPr lang="en-US"/>
            </a:br>
            <a:r>
              <a:rPr lang="en-US"/>
              <a:t>[4. OOP design – 30 s]</a:t>
            </a:r>
            <a:br>
              <a:rPr lang="en-US"/>
            </a:br>
            <a:r>
              <a:rPr lang="en-US"/>
              <a:t>FoodItem is an immutable class that validates its own weight and date. FoodType and StorageMode are enums. FoodStorage is the data structure and knows nothing about the console, and FoodStorageApp is the menu. We created two custom exceptions, StorageFullException and StorageEmptyException.</a:t>
            </a:r>
            <a:br>
              <a:rPr lang="en-US"/>
            </a:br>
            <a:br>
              <a:rPr lang="en-US"/>
            </a:br>
            <a:r>
              <a:rPr lang="en-US"/>
              <a:t>[5. Validation and testing – 45 s]</a:t>
            </a:r>
            <a:br>
              <a:rPr lang="en-US"/>
            </a:br>
            <a:r>
              <a:rPr lang="en-US"/>
              <a:t>Now we show the application in NetBeans. [Demo: choose a mode, add trays, try "cake", try weight "abc" and 9000, try a past date and a date three weeks ahead, add a ninth tray, remove until empty, then remove again, peek, display, search, and exit with option 0.] We also wrote 40 automated tests, and all of them pass.</a:t>
            </a:r>
            <a:br>
              <a:rPr lang="en-US"/>
            </a:br>
            <a:br>
              <a:rPr lang="en-US"/>
            </a:br>
            <a:r>
              <a:rPr lang="en-US"/>
              <a:t>[6 and 7. Why a deque, advantages and limitations – 45 s]</a:t>
            </a:r>
            <a:br>
              <a:rPr lang="en-US"/>
            </a:br>
            <a:r>
              <a:rPr lang="en-US"/>
              <a:t>A deque fits because the two physical sides match the two ends, and the fixed capacity matches a fixed array. A normal array queue would need to shift every tray when removing from the front, and a linked list uses extra memory per node. The limitations are that the capacity is fixed, search is linear, in stack mode older trays at the back might expire, and the mode can only be changed when the unit is empty.</a:t>
            </a:r>
            <a:br>
              <a:rPr lang="en-US"/>
            </a:br>
            <a:br>
              <a:rPr lang="en-US"/>
            </a:br>
            <a:r>
              <a:rPr lang="en-US"/>
              <a:t>[8. Team and GitHub – 20 s]</a:t>
            </a:r>
            <a:br>
              <a:rPr lang="en-US"/>
            </a:br>
            <a:r>
              <a:rPr lang="en-US"/>
              <a:t>Here is how we split the work, our GitHub repository, and the commit history with dates and times. Thank you for watching.</a:t>
            </a:r>
            <a:br>
              <a:rPr lang="en-US"/>
            </a:b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STER">
  <p:cSld name="POSTER">
    <p:bg>
      <p:bgPr>
        <a:solidFill>
          <a:schemeClr val="dk2"/>
        </a:solid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175926" y="161266"/>
            <a:ext cx="9089527" cy="49845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2300"/>
              <a:buFont typeface="Cambria"/>
              <a:buNone/>
              <a:defRPr b="1" i="0" sz="23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4"/>
          <p:cNvSpPr txBox="1"/>
          <p:nvPr>
            <p:ph type="title"/>
          </p:nvPr>
        </p:nvSpPr>
        <p:spPr>
          <a:xfrm>
            <a:off x="2021738" y="210966"/>
            <a:ext cx="9089400" cy="49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2300"/>
              <a:buFont typeface="Cambria"/>
              <a:buNone/>
            </a:pPr>
            <a:r>
              <a:rPr b="1" lang="en-US" sz="2300">
                <a:solidFill>
                  <a:schemeClr val="dk1"/>
                </a:solidFill>
              </a:rPr>
              <a:t>Fast-Food Party Storage: One Deque, Two Ways to Serve</a:t>
            </a:r>
            <a:endParaRPr sz="2300">
              <a:solidFill>
                <a:schemeClr val="dk1"/>
              </a:solidFill>
            </a:endParaRPr>
          </a:p>
        </p:txBody>
      </p:sp>
      <p:sp>
        <p:nvSpPr>
          <p:cNvPr id="19" name="Google Shape;19;p4"/>
          <p:cNvSpPr txBox="1"/>
          <p:nvPr/>
        </p:nvSpPr>
        <p:spPr>
          <a:xfrm>
            <a:off x="4420101" y="688950"/>
            <a:ext cx="4292700" cy="24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2"/>
              </a:buClr>
              <a:buSzPts val="1050"/>
              <a:buFont typeface="Calibri"/>
              <a:buNone/>
            </a:pPr>
            <a:r>
              <a:rPr i="1" lang="en-US" sz="1100">
                <a:solidFill>
                  <a:schemeClr val="dk1"/>
                </a:solidFill>
                <a:latin typeface="Calibri"/>
                <a:ea typeface="Calibri"/>
                <a:cs typeface="Calibri"/>
                <a:sym typeface="Calibri"/>
              </a:rPr>
              <a:t>Algorithms and Constructs</a:t>
            </a:r>
            <a:r>
              <a:rPr i="0" lang="en-US" sz="1050" u="none" cap="none" strike="noStrike">
                <a:solidFill>
                  <a:schemeClr val="dk1"/>
                </a:solidFill>
                <a:latin typeface="Calibri"/>
                <a:ea typeface="Calibri"/>
                <a:cs typeface="Calibri"/>
                <a:sym typeface="Calibri"/>
              </a:rPr>
              <a:t>  ·  CCT College Dublin  ·  </a:t>
            </a:r>
            <a:r>
              <a:rPr lang="en-US" sz="1050">
                <a:solidFill>
                  <a:schemeClr val="dk1"/>
                </a:solidFill>
                <a:latin typeface="Calibri"/>
                <a:ea typeface="Calibri"/>
                <a:cs typeface="Calibri"/>
                <a:sym typeface="Calibri"/>
              </a:rPr>
              <a:t>Pablo Carvalho (2024631)</a:t>
            </a:r>
            <a:endParaRPr i="0" sz="1050" u="none" cap="none" strike="noStrike">
              <a:solidFill>
                <a:schemeClr val="dk1"/>
              </a:solidFill>
              <a:latin typeface="Calibri"/>
              <a:ea typeface="Calibri"/>
              <a:cs typeface="Calibri"/>
              <a:sym typeface="Calibri"/>
            </a:endParaRPr>
          </a:p>
        </p:txBody>
      </p:sp>
      <p:sp>
        <p:nvSpPr>
          <p:cNvPr id="20" name="Google Shape;20;p4"/>
          <p:cNvSpPr txBox="1"/>
          <p:nvPr/>
        </p:nvSpPr>
        <p:spPr>
          <a:xfrm>
            <a:off x="5252450" y="922017"/>
            <a:ext cx="2628000" cy="17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800"/>
              <a:buFont typeface="Calibri"/>
              <a:buNone/>
            </a:pPr>
            <a:r>
              <a:rPr b="1" lang="en-US" sz="800">
                <a:solidFill>
                  <a:schemeClr val="dk1"/>
                </a:solidFill>
                <a:latin typeface="Calibri"/>
                <a:ea typeface="Calibri"/>
                <a:cs typeface="Calibri"/>
                <a:sym typeface="Calibri"/>
              </a:rPr>
              <a:t>https://github.com/Pablokaer/Algorithms-and-Constructs-CA</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Ketchup and Mustard">
  <a:themeElements>
    <a:clrScheme name="Ketchup and Mustard">
      <a:dk1>
        <a:srgbClr val="1E272C"/>
      </a:dk1>
      <a:lt1>
        <a:srgbClr val="FFFFFF"/>
      </a:lt1>
      <a:dk2>
        <a:srgbClr val="263238"/>
      </a:dk2>
      <a:lt2>
        <a:srgbClr val="F3F5F6"/>
      </a:lt2>
      <a:accent1>
        <a:srgbClr val="F2A900"/>
      </a:accent1>
      <a:accent2>
        <a:srgbClr val="D84315"/>
      </a:accent2>
      <a:accent3>
        <a:srgbClr val="2E7D32"/>
      </a:accent3>
      <a:accent4>
        <a:srgbClr val="546E7A"/>
      </a:accent4>
      <a:accent5>
        <a:srgbClr val="FFE6A3"/>
      </a:accent5>
      <a:accent6>
        <a:srgbClr val="FBE3D9"/>
      </a:accent6>
      <a:hlink>
        <a:srgbClr val="D84315"/>
      </a:hlink>
      <a:folHlink>
        <a:srgbClr val="8D3A1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Ketchup and Mustard">
  <a:themeElements>
    <a:clrScheme name="Ketchup and Mustard">
      <a:dk1>
        <a:srgbClr val="1E272C"/>
      </a:dk1>
      <a:lt1>
        <a:srgbClr val="FFFFFF"/>
      </a:lt1>
      <a:dk2>
        <a:srgbClr val="263238"/>
      </a:dk2>
      <a:lt2>
        <a:srgbClr val="F3F5F6"/>
      </a:lt2>
      <a:accent1>
        <a:srgbClr val="F2A900"/>
      </a:accent1>
      <a:accent2>
        <a:srgbClr val="D84315"/>
      </a:accent2>
      <a:accent3>
        <a:srgbClr val="2E7D32"/>
      </a:accent3>
      <a:accent4>
        <a:srgbClr val="546E7A"/>
      </a:accent4>
      <a:accent5>
        <a:srgbClr val="FFE6A3"/>
      </a:accent5>
      <a:accent6>
        <a:srgbClr val="FBE3D9"/>
      </a:accent6>
      <a:hlink>
        <a:srgbClr val="D84315"/>
      </a:hlink>
      <a:folHlink>
        <a:srgbClr val="8D3A1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